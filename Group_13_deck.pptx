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3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00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5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6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9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0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92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9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0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4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D7156-0455-46D7-AEAA-D48CDEA3EEC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74F35-354D-4DDC-8E93-AE4F51C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3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www.researchgate.net/publication/292677229/figure/fig7/AS:960015217197057@1605896872593/a-The-start-and-goal-states-of-a-blocks-world-problem-and-the-set-of-predicat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018" y="342728"/>
            <a:ext cx="4857750" cy="609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79518" y="1960122"/>
            <a:ext cx="2618072" cy="488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42082" y="2004969"/>
            <a:ext cx="2492943" cy="398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Group No. 13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47348" y="1434967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CSC – 570   Practical - IIII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5945" y="2636516"/>
            <a:ext cx="5727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Blocks World Problem</a:t>
            </a:r>
            <a:endParaRPr lang="en-US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425491" y="3262138"/>
            <a:ext cx="5727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Implementation using BFS and DFS</a:t>
            </a:r>
            <a:endParaRPr lang="en-US" sz="2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718156" y="5800858"/>
            <a:ext cx="5140793" cy="28575"/>
            <a:chOff x="663241" y="3821229"/>
            <a:chExt cx="5140793" cy="2857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664143" y="3821229"/>
              <a:ext cx="51398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63241" y="3849804"/>
              <a:ext cx="51398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2042082" y="4120256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GROUP NO. 13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954972" y="4411135"/>
            <a:ext cx="266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Abhishek </a:t>
            </a:r>
            <a:r>
              <a:rPr lang="en-US" dirty="0" err="1" smtClean="0"/>
              <a:t>Jaiswar</a:t>
            </a:r>
            <a:r>
              <a:rPr lang="en-US" dirty="0" smtClean="0"/>
              <a:t> (256201)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031550" y="4720868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Mangesh</a:t>
            </a:r>
            <a:r>
              <a:rPr lang="en-US" dirty="0" smtClean="0"/>
              <a:t> Mate (256214)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026284" y="5030601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Yogiraj Bhilare (256228)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718156" y="778509"/>
            <a:ext cx="5140793" cy="28575"/>
            <a:chOff x="663241" y="3821229"/>
            <a:chExt cx="5140793" cy="28575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664143" y="3821229"/>
              <a:ext cx="51398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663241" y="3849804"/>
              <a:ext cx="51398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439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24" y="9425"/>
            <a:ext cx="12182575" cy="876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2231" y="124605"/>
            <a:ext cx="724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Introduction and Problem Statement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8989" y="1151642"/>
            <a:ext cx="5530394" cy="509370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What is the Blocks World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Classic AI planning and search benchmark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A set of lettered blocks arranged on pegs/stacks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Agent must rearrange blocks from an initial state to a goal state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Only the top block of any peg can be moved at a time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Originated in 1960s robotics and planning </a:t>
            </a:r>
            <a:r>
              <a:rPr lang="en-US" dirty="0" smtClean="0">
                <a:solidFill>
                  <a:schemeClr val="tx2"/>
                </a:solidFill>
              </a:rPr>
              <a:t>research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dirty="0" smtClean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dirty="0" smtClean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4365" y="1151642"/>
            <a:ext cx="5153323" cy="530145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Problem </a:t>
            </a:r>
            <a:r>
              <a:rPr lang="en-US" b="1" dirty="0" smtClean="0">
                <a:solidFill>
                  <a:schemeClr val="tx2"/>
                </a:solidFill>
              </a:rPr>
              <a:t>Statement</a:t>
            </a:r>
          </a:p>
          <a:p>
            <a:endParaRPr lang="en-US" b="1" dirty="0">
              <a:solidFill>
                <a:srgbClr val="8B5CF6"/>
              </a:solidFill>
            </a:endParaRPr>
          </a:p>
          <a:p>
            <a:pPr>
              <a:spcAft>
                <a:spcPts val="300"/>
              </a:spcAft>
            </a:pPr>
            <a:r>
              <a:rPr lang="en-US" b="1" dirty="0">
                <a:solidFill>
                  <a:schemeClr val="tx2"/>
                </a:solidFill>
              </a:rPr>
              <a:t>Given:</a:t>
            </a: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tx2"/>
                </a:solidFill>
              </a:rPr>
              <a:t>  · An initial configuration of blocks across 3 pegs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tx2"/>
                </a:solidFill>
              </a:rPr>
              <a:t>  · A desired goal configuration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lang="en-US" b="1" dirty="0">
                <a:solidFill>
                  <a:schemeClr val="tx2"/>
                </a:solidFill>
              </a:rPr>
              <a:t>Find:</a:t>
            </a: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tx2"/>
                </a:solidFill>
              </a:rPr>
              <a:t>  · A sequence of valid moves to reach the goal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tx2"/>
                </a:solidFill>
              </a:rPr>
              <a:t>  · Each move transfers the top block of one peg to another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lang="en-US" b="1" dirty="0">
                <a:solidFill>
                  <a:schemeClr val="tx2"/>
                </a:solidFill>
              </a:rPr>
              <a:t>Compare:</a:t>
            </a: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tx2"/>
                </a:solidFill>
              </a:rPr>
              <a:t>  · BFS (optimal, finds shortest path)</a:t>
            </a: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chemeClr val="tx2"/>
                </a:solidFill>
              </a:rPr>
              <a:t>  · DFS (fast, not always optimal</a:t>
            </a:r>
            <a:r>
              <a:rPr lang="en-US" dirty="0" smtClean="0">
                <a:solidFill>
                  <a:schemeClr val="tx2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76708" y="6523353"/>
            <a:ext cx="1211856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E2E8F0"/>
                </a:solidFill>
              </a:rPr>
              <a:t>Blocks </a:t>
            </a:r>
            <a:r>
              <a:rPr lang="en-US" b="1" dirty="0">
                <a:solidFill>
                  <a:srgbClr val="E2E8F0"/>
                </a:solidFill>
              </a:rPr>
              <a:t>World Problem — BFS &amp; DFS  ·  </a:t>
            </a:r>
            <a:r>
              <a:rPr lang="en-US" b="1" dirty="0" smtClean="0">
                <a:solidFill>
                  <a:srgbClr val="E2E8F0"/>
                </a:solidFill>
              </a:rPr>
              <a:t>Group No. 13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878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24" y="9425"/>
            <a:ext cx="12182575" cy="876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2230" y="124605"/>
            <a:ext cx="754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FFFF"/>
                </a:solidFill>
              </a:rPr>
              <a:t>Methodology — BFS &amp; DFS Algorithms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478989" y="1642530"/>
            <a:ext cx="5530394" cy="347787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BFS — Breadth-First Search</a:t>
            </a:r>
            <a:endParaRPr lang="en-US" dirty="0">
              <a:solidFill>
                <a:schemeClr val="tx2"/>
              </a:solidFill>
            </a:endParaRPr>
          </a:p>
          <a:p>
            <a:endParaRPr lang="en-US" b="1" dirty="0">
              <a:solidFill>
                <a:schemeClr val="tx2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b="1" dirty="0">
                <a:solidFill>
                  <a:schemeClr val="tx2"/>
                </a:solidFill>
              </a:rPr>
              <a:t>Data Structure</a:t>
            </a:r>
            <a:r>
              <a:rPr lang="en-US" dirty="0">
                <a:solidFill>
                  <a:schemeClr val="tx2"/>
                </a:solidFill>
              </a:rPr>
              <a:t>: Queue (FIFO)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Explores all nodes at current depth before going deeper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Guaranteed to find the shortest (optimal) path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Complete — always finds a solution if one exists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Time &amp; Space complexity: O(bᵈ)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Higher memory usage — stores entire frontier</a:t>
            </a:r>
          </a:p>
          <a:p>
            <a:pPr>
              <a:spcAft>
                <a:spcPts val="600"/>
              </a:spcAft>
              <a:buSzPct val="100000"/>
            </a:pP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4364" y="1696390"/>
            <a:ext cx="5153323" cy="340093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DFS — Depth-First Search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b="1" dirty="0">
                <a:solidFill>
                  <a:schemeClr val="tx2"/>
                </a:solidFill>
              </a:rPr>
              <a:t>Data Structure</a:t>
            </a:r>
            <a:r>
              <a:rPr lang="en-US" dirty="0">
                <a:solidFill>
                  <a:schemeClr val="tx2"/>
                </a:solidFill>
              </a:rPr>
              <a:t>: Stack (LIFO)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Explores one path fully before backtracking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Not guaranteed to find the optimal path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Incomplete — may get stuck in infinite loops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Time: O(bᵐ), Space: </a:t>
            </a:r>
            <a:r>
              <a:rPr lang="en-US" dirty="0" smtClean="0">
                <a:solidFill>
                  <a:schemeClr val="tx2"/>
                </a:solidFill>
              </a:rPr>
              <a:t>O(b x m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chemeClr val="tx2"/>
                </a:solidFill>
              </a:rPr>
              <a:t>Lower memory usage — stores only current path</a:t>
            </a:r>
          </a:p>
          <a:p>
            <a:pPr>
              <a:spcAft>
                <a:spcPts val="300"/>
              </a:spcAft>
            </a:pPr>
            <a:r>
              <a:rPr lang="en-US" b="1" dirty="0" smtClean="0">
                <a:solidFill>
                  <a:schemeClr val="tx2"/>
                </a:solidFill>
              </a:rPr>
              <a:t/>
            </a:r>
            <a:br>
              <a:rPr lang="en-US" b="1" dirty="0" smtClean="0">
                <a:solidFill>
                  <a:schemeClr val="tx2"/>
                </a:solidFill>
              </a:rPr>
            </a:b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0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76708" y="6523353"/>
            <a:ext cx="1211856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E2E8F0"/>
                </a:solidFill>
              </a:rPr>
              <a:t>Blocks </a:t>
            </a:r>
            <a:r>
              <a:rPr lang="en-US" b="1" dirty="0">
                <a:solidFill>
                  <a:srgbClr val="E2E8F0"/>
                </a:solidFill>
              </a:rPr>
              <a:t>World Problem — BFS &amp; DFS  ·  </a:t>
            </a:r>
            <a:r>
              <a:rPr lang="en-US" b="1" dirty="0" smtClean="0">
                <a:solidFill>
                  <a:srgbClr val="E2E8F0"/>
                </a:solidFill>
              </a:rPr>
              <a:t>Group No. 13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582852" y="5325590"/>
            <a:ext cx="9035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Theoretical algorithm properties (b = branching factor, d = depth of optimal solution, m = maximum depth).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4053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24" y="9425"/>
            <a:ext cx="12182575" cy="876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2231" y="124605"/>
            <a:ext cx="724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FFFF"/>
                </a:solidFill>
              </a:rPr>
              <a:t>Implementation Overview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254212" y="1151642"/>
            <a:ext cx="3668805" cy="507831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Frontend — </a:t>
            </a:r>
            <a:r>
              <a:rPr lang="en-US" b="1" dirty="0" smtClean="0">
                <a:solidFill>
                  <a:schemeClr val="tx2"/>
                </a:solidFill>
              </a:rPr>
              <a:t>React.js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Interactive UI built with React + Tailwind CSS. Components</a:t>
            </a:r>
            <a:r>
              <a:rPr lang="en-US">
                <a:solidFill>
                  <a:schemeClr val="tx2"/>
                </a:solidFill>
              </a:rPr>
              <a:t>: </a:t>
            </a:r>
            <a:r>
              <a:rPr lang="en-US" smtClean="0">
                <a:solidFill>
                  <a:schemeClr val="tx2"/>
                </a:solidFill>
              </a:rPr>
              <a:t>Interaction</a:t>
            </a:r>
            <a:r>
              <a:rPr lang="en-US" smtClean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(block/peg configuration), </a:t>
            </a:r>
            <a:r>
              <a:rPr lang="en-US" dirty="0" err="1">
                <a:solidFill>
                  <a:schemeClr val="tx2"/>
                </a:solidFill>
              </a:rPr>
              <a:t>SplitScreen</a:t>
            </a:r>
            <a:r>
              <a:rPr lang="en-US" dirty="0">
                <a:solidFill>
                  <a:schemeClr val="tx2"/>
                </a:solidFill>
              </a:rPr>
              <a:t> (BFS vs DFS panels), </a:t>
            </a:r>
            <a:r>
              <a:rPr lang="en-US" dirty="0" err="1">
                <a:solidFill>
                  <a:schemeClr val="tx2"/>
                </a:solidFill>
              </a:rPr>
              <a:t>PlaybackControls</a:t>
            </a:r>
            <a:r>
              <a:rPr lang="en-US" dirty="0">
                <a:solidFill>
                  <a:schemeClr val="tx2"/>
                </a:solidFill>
              </a:rPr>
              <a:t> (step-by-step animation), </a:t>
            </a:r>
            <a:r>
              <a:rPr lang="en-US" dirty="0" err="1">
                <a:solidFill>
                  <a:schemeClr val="tx2"/>
                </a:solidFill>
              </a:rPr>
              <a:t>TreeView</a:t>
            </a:r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dirty="0" err="1">
                <a:solidFill>
                  <a:schemeClr val="tx2"/>
                </a:solidFill>
              </a:rPr>
              <a:t>ReactFlow</a:t>
            </a:r>
            <a:r>
              <a:rPr lang="en-US" dirty="0">
                <a:solidFill>
                  <a:schemeClr val="tx2"/>
                </a:solidFill>
              </a:rPr>
              <a:t> search tree), </a:t>
            </a:r>
            <a:r>
              <a:rPr lang="en-US" dirty="0" err="1">
                <a:solidFill>
                  <a:schemeClr val="tx2"/>
                </a:solidFill>
              </a:rPr>
              <a:t>ComparisonTable</a:t>
            </a:r>
            <a:r>
              <a:rPr lang="en-US" dirty="0">
                <a:solidFill>
                  <a:schemeClr val="tx2"/>
                </a:solidFill>
              </a:rPr>
              <a:t> (metrics dashboard).</a:t>
            </a: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8201422" y="1151642"/>
            <a:ext cx="3668805" cy="521681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b="1" dirty="0">
                <a:solidFill>
                  <a:schemeClr val="tx2"/>
                </a:solidFill>
              </a:rPr>
              <a:t>Algorithm Engine — Python</a:t>
            </a: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tx2"/>
                </a:solidFill>
              </a:rPr>
              <a:t>solver.py implements BFS (</a:t>
            </a:r>
            <a:r>
              <a:rPr lang="en-US" dirty="0" err="1">
                <a:solidFill>
                  <a:schemeClr val="tx2"/>
                </a:solidFill>
              </a:rPr>
              <a:t>deque</a:t>
            </a:r>
            <a:r>
              <a:rPr lang="en-US" dirty="0">
                <a:solidFill>
                  <a:schemeClr val="tx2"/>
                </a:solidFill>
              </a:rPr>
              <a:t>-based) and DFS (stack-based). Returns full step trace: state, move description, data structure snapshot, tree node. Linked into Node.js via runPython.js using </a:t>
            </a:r>
            <a:r>
              <a:rPr lang="en-US" dirty="0" err="1">
                <a:solidFill>
                  <a:schemeClr val="tx2"/>
                </a:solidFill>
              </a:rPr>
              <a:t>stdin</a:t>
            </a:r>
            <a:r>
              <a:rPr lang="en-US" dirty="0">
                <a:solidFill>
                  <a:schemeClr val="tx2"/>
                </a:solidFill>
              </a:rPr>
              <a:t>/</a:t>
            </a:r>
            <a:r>
              <a:rPr lang="en-US" dirty="0" err="1">
                <a:solidFill>
                  <a:schemeClr val="tx2"/>
                </a:solidFill>
              </a:rPr>
              <a:t>stdout</a:t>
            </a:r>
            <a:r>
              <a:rPr lang="en-US" dirty="0">
                <a:solidFill>
                  <a:schemeClr val="tx2"/>
                </a:solidFill>
              </a:rPr>
              <a:t> JSON piping.</a:t>
            </a:r>
          </a:p>
          <a:p>
            <a:pPr>
              <a:spcAft>
                <a:spcPts val="600"/>
              </a:spcAft>
              <a:buSzPct val="100000"/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 smtClean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buSzPct val="100000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27817" y="1157350"/>
            <a:ext cx="3668805" cy="507831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Backend — Node.js + </a:t>
            </a:r>
            <a:r>
              <a:rPr lang="en-US" b="1" dirty="0" smtClean="0">
                <a:solidFill>
                  <a:schemeClr val="tx2"/>
                </a:solidFill>
              </a:rPr>
              <a:t>Express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REST API server handles /</a:t>
            </a:r>
            <a:r>
              <a:rPr lang="en-US" dirty="0" err="1">
                <a:solidFill>
                  <a:schemeClr val="tx2"/>
                </a:solidFill>
              </a:rPr>
              <a:t>api</a:t>
            </a:r>
            <a:r>
              <a:rPr lang="en-US" dirty="0">
                <a:solidFill>
                  <a:schemeClr val="tx2"/>
                </a:solidFill>
              </a:rPr>
              <a:t>/solve and /</a:t>
            </a:r>
            <a:r>
              <a:rPr lang="en-US" dirty="0" err="1">
                <a:solidFill>
                  <a:schemeClr val="tx2"/>
                </a:solidFill>
              </a:rPr>
              <a:t>api</a:t>
            </a:r>
            <a:r>
              <a:rPr lang="en-US" dirty="0">
                <a:solidFill>
                  <a:schemeClr val="tx2"/>
                </a:solidFill>
              </a:rPr>
              <a:t>/example. solverController.js validates inputs and invokes the Python engine via </a:t>
            </a:r>
            <a:r>
              <a:rPr lang="en-US" dirty="0" err="1">
                <a:solidFill>
                  <a:schemeClr val="tx2"/>
                </a:solidFill>
              </a:rPr>
              <a:t>child_process</a:t>
            </a:r>
            <a:r>
              <a:rPr lang="en-US" dirty="0">
                <a:solidFill>
                  <a:schemeClr val="tx2"/>
                </a:solidFill>
              </a:rPr>
              <a:t>. Optional MongoDB storage for solve history. Runs on port 5000.</a:t>
            </a: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708" y="6523353"/>
            <a:ext cx="1211856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E2E8F0"/>
                </a:solidFill>
              </a:rPr>
              <a:t>Blocks </a:t>
            </a:r>
            <a:r>
              <a:rPr lang="en-US" b="1" dirty="0">
                <a:solidFill>
                  <a:srgbClr val="E2E8F0"/>
                </a:solidFill>
              </a:rPr>
              <a:t>World Problem — BFS &amp; DFS  ·  </a:t>
            </a:r>
            <a:r>
              <a:rPr lang="en-US" b="1" dirty="0" smtClean="0">
                <a:solidFill>
                  <a:srgbClr val="E2E8F0"/>
                </a:solidFill>
              </a:rPr>
              <a:t>Group No. 13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677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24" y="9425"/>
            <a:ext cx="12182575" cy="876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2231" y="124605"/>
            <a:ext cx="724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FFFF"/>
                </a:solidFill>
              </a:rPr>
              <a:t>Key Features &amp; Visualization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254212" y="1536653"/>
            <a:ext cx="3668805" cy="203132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Step-by-Step Playback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Animated playback with Slow / Medium / Fast speed controls and step-forward/back navigation.</a:t>
            </a:r>
          </a:p>
          <a:p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10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248032" y="3848153"/>
            <a:ext cx="3668805" cy="203132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Input Validation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Frontend + backend both validate block parity, peg count (2–5), block count (≤6), and duplicate detection.</a:t>
            </a:r>
          </a:p>
          <a:p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6691" y="1536653"/>
            <a:ext cx="3668805" cy="203132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b="1" dirty="0" smtClean="0">
                <a:solidFill>
                  <a:schemeClr val="tx2"/>
                </a:solidFill>
              </a:rPr>
              <a:t>Live Block Visualization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err="1">
                <a:solidFill>
                  <a:schemeClr val="tx2"/>
                </a:solidFill>
              </a:rPr>
              <a:t>BlockStack</a:t>
            </a:r>
            <a:r>
              <a:rPr lang="en-US" dirty="0">
                <a:solidFill>
                  <a:schemeClr val="tx2"/>
                </a:solidFill>
              </a:rPr>
              <a:t> component renders each peg with color-coded blocks in real time as the algorithm progresses.</a:t>
            </a:r>
          </a:p>
          <a:p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0511" y="3848153"/>
            <a:ext cx="3668805" cy="203132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Execution Log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err="1">
                <a:solidFill>
                  <a:schemeClr val="tx2"/>
                </a:solidFill>
              </a:rPr>
              <a:t>LogsPanel</a:t>
            </a:r>
            <a:r>
              <a:rPr lang="en-US" dirty="0">
                <a:solidFill>
                  <a:schemeClr val="tx2"/>
                </a:solidFill>
              </a:rPr>
              <a:t> shows the full move history, highlighting the current step and fading past/future entries.</a:t>
            </a:r>
          </a:p>
          <a:p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39170" y="1536653"/>
            <a:ext cx="3668805" cy="203132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Search Tree (</a:t>
            </a:r>
            <a:r>
              <a:rPr lang="en-US" b="1" dirty="0" err="1">
                <a:solidFill>
                  <a:schemeClr val="tx2"/>
                </a:solidFill>
              </a:rPr>
              <a:t>ReactFlow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Interactive tree diagram highlights the currently explored node at every step for both BFS and DFS.</a:t>
            </a:r>
          </a:p>
          <a:p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32990" y="3848153"/>
            <a:ext cx="3668805" cy="203132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Metrics Dashboard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err="1">
                <a:solidFill>
                  <a:schemeClr val="tx2"/>
                </a:solidFill>
              </a:rPr>
              <a:t>ComparisonTable</a:t>
            </a:r>
            <a:r>
              <a:rPr lang="en-US" dirty="0">
                <a:solidFill>
                  <a:schemeClr val="tx2"/>
                </a:solidFill>
              </a:rPr>
              <a:t> shows theoretical properties alongside measured step counts and tree node totals.</a:t>
            </a:r>
          </a:p>
          <a:p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708" y="6523353"/>
            <a:ext cx="1211856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E2E8F0"/>
                </a:solidFill>
              </a:rPr>
              <a:t>Blocks </a:t>
            </a:r>
            <a:r>
              <a:rPr lang="en-US" b="1" dirty="0">
                <a:solidFill>
                  <a:srgbClr val="E2E8F0"/>
                </a:solidFill>
              </a:rPr>
              <a:t>World Problem — BFS &amp; DFS  ·  </a:t>
            </a:r>
            <a:r>
              <a:rPr lang="en-US" b="1" dirty="0" smtClean="0">
                <a:solidFill>
                  <a:srgbClr val="E2E8F0"/>
                </a:solidFill>
              </a:rPr>
              <a:t>Group No. 13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200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24" y="9425"/>
            <a:ext cx="12182575" cy="876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2231" y="124605"/>
            <a:ext cx="724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FFFF"/>
                </a:solidFill>
              </a:rPr>
              <a:t>Results and Algorithm Comparison</a:t>
            </a:r>
            <a:endParaRPr lang="en-US" sz="3600" dirty="0"/>
          </a:p>
        </p:txBody>
      </p:sp>
      <p:sp>
        <p:nvSpPr>
          <p:cNvPr id="10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593910"/>
              </p:ext>
            </p:extLst>
          </p:nvPr>
        </p:nvGraphicFramePr>
        <p:xfrm>
          <a:off x="828842" y="1198251"/>
          <a:ext cx="10548219" cy="4718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6073">
                  <a:extLst>
                    <a:ext uri="{9D8B030D-6E8A-4147-A177-3AD203B41FA5}">
                      <a16:colId xmlns:a16="http://schemas.microsoft.com/office/drawing/2014/main" val="3629524156"/>
                    </a:ext>
                  </a:extLst>
                </a:gridCol>
                <a:gridCol w="3516073">
                  <a:extLst>
                    <a:ext uri="{9D8B030D-6E8A-4147-A177-3AD203B41FA5}">
                      <a16:colId xmlns:a16="http://schemas.microsoft.com/office/drawing/2014/main" val="2104205766"/>
                    </a:ext>
                  </a:extLst>
                </a:gridCol>
                <a:gridCol w="3516073">
                  <a:extLst>
                    <a:ext uri="{9D8B030D-6E8A-4147-A177-3AD203B41FA5}">
                      <a16:colId xmlns:a16="http://schemas.microsoft.com/office/drawing/2014/main" val="1312979269"/>
                    </a:ext>
                  </a:extLst>
                </a:gridCol>
              </a:tblGrid>
              <a:tr h="5898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BFS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DFS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482184"/>
                  </a:ext>
                </a:extLst>
              </a:tr>
              <a:tr h="5898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2"/>
                          </a:solidFill>
                        </a:rPr>
                        <a:t>Data Structure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2"/>
                          </a:solidFill>
                        </a:rPr>
                        <a:t>Queue (FIFO)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2"/>
                          </a:solidFill>
                        </a:rPr>
                        <a:t>Stack (LIFO)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590876"/>
                  </a:ext>
                </a:extLst>
              </a:tr>
              <a:tr h="5898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2"/>
                          </a:solidFill>
                        </a:rPr>
                        <a:t>Time Complexity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O(bᵈ)</a:t>
                      </a:r>
                      <a:endParaRPr lang="en-US" sz="2000" dirty="0" smtClean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O(bᵐ)</a:t>
                      </a:r>
                      <a:endParaRPr lang="en-US" sz="2000" dirty="0" smtClean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075072"/>
                  </a:ext>
                </a:extLst>
              </a:tr>
              <a:tr h="5898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Complexity</a:t>
                      </a:r>
                      <a:endParaRPr lang="en-US" sz="20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O(bᵈ)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</a:t>
                      </a:r>
                      <a:r>
                        <a:rPr lang="en-US" sz="2000" baseline="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x </a:t>
                      </a: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m)</a:t>
                      </a:r>
                      <a:endParaRPr lang="en-US" sz="20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42259"/>
                  </a:ext>
                </a:extLst>
              </a:tr>
              <a:tr h="5898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20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84272"/>
                  </a:ext>
                </a:extLst>
              </a:tr>
              <a:tr h="5898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Optimality</a:t>
                      </a:r>
                      <a:endParaRPr lang="en-US" sz="20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 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200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494461"/>
                  </a:ext>
                </a:extLst>
              </a:tr>
              <a:tr h="5898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Usage</a:t>
                      </a:r>
                      <a:endParaRPr lang="en-US" sz="20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(full frontier)</a:t>
                      </a:r>
                      <a:endParaRPr lang="en-US" sz="20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(current path)</a:t>
                      </a:r>
                      <a:endParaRPr lang="en-US" sz="20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106701"/>
                  </a:ext>
                </a:extLst>
              </a:tr>
              <a:tr h="5898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 smtClean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Steps (A,B,C)</a:t>
                      </a:r>
                      <a:endParaRPr lang="en-US" sz="20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2"/>
                          </a:solidFill>
                        </a:rPr>
                        <a:t>41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94529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82852" y="6059723"/>
            <a:ext cx="9035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Theoretical algorithm properties (b = branching factor, d = depth of optimal solution, m = maximum depth).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76708" y="6523353"/>
            <a:ext cx="1211856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E2E8F0"/>
                </a:solidFill>
              </a:rPr>
              <a:t>Blocks </a:t>
            </a:r>
            <a:r>
              <a:rPr lang="en-US" b="1" dirty="0">
                <a:solidFill>
                  <a:srgbClr val="E2E8F0"/>
                </a:solidFill>
              </a:rPr>
              <a:t>World Problem — BFS &amp; DFS  ·  </a:t>
            </a:r>
            <a:r>
              <a:rPr lang="en-US" b="1" dirty="0" smtClean="0">
                <a:solidFill>
                  <a:srgbClr val="E2E8F0"/>
                </a:solidFill>
              </a:rPr>
              <a:t>Group No. 13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313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6532775"/>
            <a:ext cx="12182575" cy="362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425" y="0"/>
            <a:ext cx="12182575" cy="876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2231" y="124605"/>
            <a:ext cx="724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FFFF"/>
                </a:solidFill>
              </a:rPr>
              <a:t>Key Features &amp; Visualization</a:t>
            </a:r>
            <a:endParaRPr lang="en-US" sz="3600" dirty="0"/>
          </a:p>
        </p:txBody>
      </p:sp>
      <p:sp>
        <p:nvSpPr>
          <p:cNvPr id="10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grpSp>
        <p:nvGrpSpPr>
          <p:cNvPr id="8" name="Group 7"/>
          <p:cNvGrpSpPr/>
          <p:nvPr/>
        </p:nvGrpSpPr>
        <p:grpSpPr>
          <a:xfrm>
            <a:off x="292231" y="1253851"/>
            <a:ext cx="11566689" cy="4769879"/>
            <a:chOff x="292231" y="1169008"/>
            <a:chExt cx="11582607" cy="5164265"/>
          </a:xfrm>
        </p:grpSpPr>
        <p:grpSp>
          <p:nvGrpSpPr>
            <p:cNvPr id="4" name="Group 3"/>
            <p:cNvGrpSpPr/>
            <p:nvPr/>
          </p:nvGrpSpPr>
          <p:grpSpPr>
            <a:xfrm>
              <a:off x="292231" y="1169008"/>
              <a:ext cx="11582607" cy="5164265"/>
              <a:chOff x="248032" y="1536653"/>
              <a:chExt cx="7717464" cy="4628719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254212" y="1536653"/>
                <a:ext cx="3668805" cy="2068946"/>
              </a:xfrm>
              <a:prstGeom prst="rect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lvl="2"/>
                <a:r>
                  <a:rPr lang="en-US" b="1" dirty="0">
                    <a:solidFill>
                      <a:schemeClr val="tx2"/>
                    </a:solidFill>
                  </a:rPr>
                  <a:t>BFS for Optimal Solutions</a:t>
                </a:r>
                <a:endParaRPr lang="en-US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dirty="0" smtClean="0">
                    <a:solidFill>
                      <a:schemeClr val="tx2"/>
                    </a:solidFill>
                  </a:rPr>
                  <a:t/>
                </a:r>
                <a:br>
                  <a:rPr lang="en-US" dirty="0" smtClean="0">
                    <a:solidFill>
                      <a:schemeClr val="tx2"/>
                    </a:solidFill>
                  </a:rPr>
                </a:br>
                <a:endParaRPr lang="en-US" dirty="0" smtClean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2"/>
                    </a:solidFill>
                  </a:rPr>
                  <a:t>BFS guarantees the shortest path and is complete. Ideal when solution quality and correctness matter more than memory.</a:t>
                </a:r>
              </a:p>
              <a:p>
                <a:pPr lvl="2"/>
                <a:r>
                  <a:rPr lang="en-US" dirty="0" smtClean="0">
                    <a:solidFill>
                      <a:schemeClr val="tx2"/>
                    </a:solidFill>
                  </a:rPr>
                  <a:t/>
                </a:r>
                <a:br>
                  <a:rPr lang="en-US" dirty="0" smtClean="0">
                    <a:solidFill>
                      <a:schemeClr val="tx2"/>
                    </a:solidFill>
                  </a:rPr>
                </a:br>
                <a:endParaRPr lang="en-US" dirty="0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48032" y="3848153"/>
                <a:ext cx="3668805" cy="2317219"/>
              </a:xfrm>
              <a:prstGeom prst="rect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lvl="2"/>
                <a:r>
                  <a:rPr lang="en-US" b="1" dirty="0">
                    <a:solidFill>
                      <a:schemeClr val="tx2"/>
                    </a:solidFill>
                  </a:rPr>
                  <a:t>Visual Learning Tool</a:t>
                </a:r>
                <a:endParaRPr lang="en-US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dirty="0" smtClean="0">
                    <a:solidFill>
                      <a:schemeClr val="tx2"/>
                    </a:solidFill>
                  </a:rPr>
                  <a:t/>
                </a:r>
                <a:br>
                  <a:rPr lang="en-US" dirty="0" smtClean="0">
                    <a:solidFill>
                      <a:schemeClr val="tx2"/>
                    </a:solidFill>
                  </a:rPr>
                </a:br>
                <a:endParaRPr lang="en-US" dirty="0" smtClean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2"/>
                    </a:solidFill>
                  </a:rPr>
                  <a:t>The interactive visualizer makes search algorithms tangible — students can observe state changes, data structures, and tree growth in real time.</a:t>
                </a:r>
              </a:p>
              <a:p>
                <a:pPr lvl="2"/>
                <a:r>
                  <a:rPr lang="en-US" dirty="0" smtClean="0">
                    <a:solidFill>
                      <a:schemeClr val="tx2"/>
                    </a:solidFill>
                  </a:rPr>
                  <a:t/>
                </a:r>
                <a:br>
                  <a:rPr lang="en-US" dirty="0" smtClean="0">
                    <a:solidFill>
                      <a:schemeClr val="tx2"/>
                    </a:solidFill>
                  </a:rPr>
                </a:br>
                <a:endParaRPr lang="en-US" dirty="0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296691" y="1536653"/>
                <a:ext cx="3668805" cy="2068946"/>
              </a:xfrm>
              <a:prstGeom prst="rect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lvl="2"/>
                <a:r>
                  <a:rPr lang="en-US" b="1" dirty="0" smtClean="0">
                    <a:solidFill>
                      <a:schemeClr val="tx2"/>
                    </a:solidFill>
                  </a:rPr>
                  <a:t>DFS for Memory Efficiency</a:t>
                </a:r>
                <a:endParaRPr lang="en-US" dirty="0" smtClean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dirty="0" smtClean="0">
                    <a:solidFill>
                      <a:schemeClr val="tx2"/>
                    </a:solidFill>
                  </a:rPr>
                  <a:t/>
                </a:r>
                <a:br>
                  <a:rPr lang="en-US" dirty="0" smtClean="0">
                    <a:solidFill>
                      <a:schemeClr val="tx2"/>
                    </a:solidFill>
                  </a:rPr>
                </a:br>
                <a:endParaRPr lang="en-US" dirty="0" smtClean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2"/>
                    </a:solidFill>
                  </a:rPr>
                  <a:t>DFS uses significantly less memory and is faster in practice when the goal is deep in the tree. Suitable for large state spaces.</a:t>
                </a:r>
              </a:p>
              <a:p>
                <a:pPr lvl="2"/>
                <a:r>
                  <a:rPr lang="en-US" dirty="0">
                    <a:solidFill>
                      <a:schemeClr val="tx2"/>
                    </a:solidFill>
                  </a:rPr>
                  <a:t/>
                </a:r>
                <a:br>
                  <a:rPr lang="en-US" dirty="0">
                    <a:solidFill>
                      <a:schemeClr val="tx2"/>
                    </a:solidFill>
                  </a:rPr>
                </a:br>
                <a:endParaRPr 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290511" y="3848153"/>
                <a:ext cx="3668805" cy="2317219"/>
              </a:xfrm>
              <a:prstGeom prst="rect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lvl="2"/>
                <a:r>
                  <a:rPr lang="en-US" b="1" dirty="0">
                    <a:solidFill>
                      <a:schemeClr val="tx2"/>
                    </a:solidFill>
                  </a:rPr>
                  <a:t>Full-Stack AI Application</a:t>
                </a:r>
                <a:endParaRPr lang="en-US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dirty="0" smtClean="0">
                    <a:solidFill>
                      <a:schemeClr val="tx2"/>
                    </a:solidFill>
                  </a:rPr>
                  <a:t/>
                </a:r>
                <a:br>
                  <a:rPr lang="en-US" dirty="0" smtClean="0">
                    <a:solidFill>
                      <a:schemeClr val="tx2"/>
                    </a:solidFill>
                  </a:rPr>
                </a:br>
                <a:endParaRPr lang="en-US" dirty="0" smtClean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dirty="0">
                    <a:solidFill>
                      <a:schemeClr val="tx2"/>
                    </a:solidFill>
                  </a:rPr>
                  <a:t>Demonstrates a complete AI pipeline: React frontend, Node.js API layer, and Python algorithm engine communicating via JSON over </a:t>
                </a:r>
                <a:r>
                  <a:rPr lang="en-US" dirty="0" err="1">
                    <a:solidFill>
                      <a:schemeClr val="tx2"/>
                    </a:solidFill>
                  </a:rPr>
                  <a:t>stdio</a:t>
                </a:r>
                <a:r>
                  <a:rPr lang="en-US" dirty="0">
                    <a:solidFill>
                      <a:schemeClr val="tx2"/>
                    </a:solidFill>
                  </a:rPr>
                  <a:t>.</a:t>
                </a:r>
              </a:p>
              <a:p>
                <a:pPr lvl="2"/>
                <a:r>
                  <a:rPr lang="en-US" dirty="0" smtClean="0">
                    <a:solidFill>
                      <a:schemeClr val="tx2"/>
                    </a:solidFill>
                  </a:rPr>
                  <a:t/>
                </a:r>
                <a:br>
                  <a:rPr lang="en-US" dirty="0" smtClean="0">
                    <a:solidFill>
                      <a:schemeClr val="tx2"/>
                    </a:solidFill>
                  </a:rPr>
                </a:br>
                <a:endParaRPr lang="en-US" dirty="0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301506" y="1169008"/>
              <a:ext cx="857991" cy="23083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1506" y="3747949"/>
              <a:ext cx="857991" cy="25853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368583" y="1169008"/>
              <a:ext cx="857991" cy="23083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368583" y="3747949"/>
              <a:ext cx="857991" cy="25853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9416" y="2024646"/>
              <a:ext cx="622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smtClean="0">
                  <a:solidFill>
                    <a:schemeClr val="bg1"/>
                  </a:solidFill>
                </a:rPr>
                <a:t>01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9416" y="4748222"/>
              <a:ext cx="622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smtClean="0">
                  <a:solidFill>
                    <a:schemeClr val="bg1"/>
                  </a:solidFill>
                </a:rPr>
                <a:t>03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82423" y="2024646"/>
              <a:ext cx="622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smtClean="0">
                  <a:solidFill>
                    <a:schemeClr val="bg1"/>
                  </a:solidFill>
                </a:rPr>
                <a:t>02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82423" y="4748222"/>
              <a:ext cx="622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smtClean="0">
                  <a:solidFill>
                    <a:schemeClr val="bg1"/>
                  </a:solidFill>
                </a:rPr>
                <a:t>04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4008" y="6523353"/>
            <a:ext cx="12118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2E8F0"/>
                </a:solidFill>
              </a:rPr>
              <a:t>Thank You  ·  Blocks World Problem — BFS &amp; DFS  ·  </a:t>
            </a:r>
            <a:r>
              <a:rPr lang="en-US" b="1" dirty="0" smtClean="0">
                <a:solidFill>
                  <a:srgbClr val="E2E8F0"/>
                </a:solidFill>
              </a:rPr>
              <a:t>Group No. 13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200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614</Words>
  <Application>Microsoft Office PowerPoint</Application>
  <PresentationFormat>Widescreen</PresentationFormat>
  <Paragraphs>154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9</cp:revision>
  <dcterms:created xsi:type="dcterms:W3CDTF">2026-04-07T04:21:32Z</dcterms:created>
  <dcterms:modified xsi:type="dcterms:W3CDTF">2026-04-07T10:24:38Z</dcterms:modified>
</cp:coreProperties>
</file>